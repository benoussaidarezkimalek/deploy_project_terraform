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BF3FB"/>
                </a:solidFill>
                <a:latin typeface="Calibri"/>
              </a:rPr>
              <a:t>Provisionner Azure avec Terraform,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EBF3FB"/>
                </a:solidFill>
                <a:latin typeface="Calibri"/>
              </a:rPr>
              <a:t>déployer avec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201168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EBF3FB"/>
                </a:solidFill>
                <a:latin typeface="Calibri"/>
              </a:rPr>
              <a:t>ESGI — 4e année  ·  Module Infrastructure as Code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EBF3FB"/>
                </a:solidFill>
                <a:latin typeface="Calibri"/>
              </a:rPr>
              <a:t>Soutenance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12191695" cy="105156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2"/>
                </a:solidFill>
                <a:latin typeface="Calibri"/>
              </a:rPr>
              <a:t>Ce dont il est question — et ce dont il n'est pas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640080"/>
          </a:xfrm>
          <a:prstGeom prst="roundRect">
            <a:avLst/>
          </a:prstGeom>
          <a:solidFill>
            <a:srgbClr val="16783C"/>
          </a:solidFill>
          <a:ln>
            <a:solidFill>
              <a:srgbClr val="167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Dans le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Description déclarative de l'infrastructure Azure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Gestion de l'état Terraform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Chaîne CI/CD : plan, approbation, apply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Modèle de sécurité des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303520" cy="640080"/>
          </a:xfrm>
          <a:prstGeom prst="roundRect">
            <a:avLst/>
          </a:prstGeom>
          <a:solidFill>
            <a:srgbClr val="5A6472"/>
          </a:solidFill>
          <a:ln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Hors périmètre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Le fonctionnement interne de l'application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La pipeline qui déploie le code applicatif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03656"/>
                </a:solidFill>
                <a:latin typeface="Calibri"/>
              </a:rPr>
              <a:t>▪  Les traitements métier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Des besoins aux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2"/>
                </a:solidFill>
                <a:latin typeface="Calibri"/>
              </a:rPr>
              <a:t>16 objets Terraform, un seul groupe de ressources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749808"/>
          </a:xfrm>
          <a:prstGeom prst="rect">
            <a:avLst/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0253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3656"/>
                </a:solidFill>
                <a:latin typeface="Calibri"/>
              </a:rPr>
              <a:t>Exécuter un service web Python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06440" y="2121408"/>
            <a:ext cx="320040" cy="201168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200253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Plan App Service Linux + 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3656"/>
                </a:solidFill>
                <a:latin typeface="Calibri"/>
              </a:rPr>
              <a:t>Exécuter une tâche périodique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2944368"/>
            <a:ext cx="320040" cy="201168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82549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Function App à déclencheur temporel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972800" cy="749808"/>
          </a:xfrm>
          <a:prstGeom prst="rect">
            <a:avLst/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3656"/>
                </a:solidFill>
                <a:latin typeface="Calibri"/>
              </a:rPr>
              <a:t>Stocker des objets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06440" y="3767328"/>
            <a:ext cx="320040" cy="201168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64845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Compte de stockage + conteneur Blob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97680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7141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3656"/>
                </a:solidFill>
                <a:latin typeface="Calibri"/>
              </a:rPr>
              <a:t>Consommer des secrets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4590288"/>
            <a:ext cx="320040" cy="201168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47141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Key Vault + identités managées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 déployée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2"/>
                </a:solidFill>
                <a:latin typeface="Calibri"/>
              </a:rPr>
              <a:t>Resource Group rg-mailmanager — région spaincentral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45920"/>
            <a:ext cx="4114800" cy="68580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 Service Plan  ·  B1 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651760"/>
            <a:ext cx="3840480" cy="77724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Web App
mailmanager-app-tf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651760"/>
            <a:ext cx="3840480" cy="77724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Function App
mailmanager-func-tf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3931920"/>
            <a:ext cx="3840480" cy="822960"/>
          </a:xfrm>
          <a:prstGeom prst="roundRect">
            <a:avLst/>
          </a:prstGeom>
          <a:solidFill>
            <a:srgbClr val="16783C"/>
          </a:solidFill>
          <a:ln>
            <a:solidFill>
              <a:srgbClr val="167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Vault  (mode RBAC)
mailmanager-kv-tf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931920"/>
            <a:ext cx="3840480" cy="82296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Storage Account
mailmanagersttf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3656"/>
                </a:solidFill>
                <a:latin typeface="Calibri"/>
              </a:rPr>
              <a:t>Les deux applications portent une identité managée System Assigned.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3656"/>
                </a:solidFill>
                <a:latin typeface="Calibri"/>
              </a:rPr>
              <a:t>Leurs App Settings ne contiennent qu'une référence @Microsoft.KeyVault(...) —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3656"/>
                </a:solidFill>
                <a:latin typeface="Calibri"/>
              </a:rPr>
              <a:t>la valeur est résolue au démarrage par la plateforme.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Chaîne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2"/>
                </a:solidFill>
                <a:latin typeface="Calibri"/>
              </a:rPr>
              <a:t>GitHub Actions — plan automatique, apply approuvé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8791" y="2238512"/>
            <a:ext cx="2780607" cy="1432068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Push
/ dispatch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71183" y="2811339"/>
            <a:ext cx="420849" cy="286414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79356" y="2238512"/>
            <a:ext cx="2780607" cy="1432068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Bootstrap
state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47287" y="2811339"/>
            <a:ext cx="420849" cy="286414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41573" y="2207834"/>
            <a:ext cx="2780607" cy="1432068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 err="1">
                <a:solidFill>
                  <a:srgbClr val="FFFFFF"/>
                </a:solidFill>
                <a:latin typeface="Calibri"/>
              </a:rPr>
              <a:t>init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+
validate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251112" y="4723171"/>
            <a:ext cx="375052" cy="286414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00084" y="4142822"/>
            <a:ext cx="2478023" cy="1432068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plan
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publié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50896" y="4714863"/>
            <a:ext cx="375052" cy="286414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98737" y="4142822"/>
            <a:ext cx="2478023" cy="1432068"/>
          </a:xfrm>
          <a:prstGeom prst="roundRect">
            <a:avLst/>
          </a:prstGeom>
          <a:solidFill>
            <a:srgbClr val="B02020"/>
          </a:solidFill>
          <a:ln>
            <a:solidFill>
              <a:srgbClr val="B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Approbation
humaine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47287" y="4715649"/>
            <a:ext cx="375052" cy="286414"/>
          </a:xfrm>
          <a:prstGeom prst="rightArrow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92866" y="4142822"/>
            <a:ext cx="2478023" cy="1432068"/>
          </a:xfrm>
          <a:prstGeom prst="roundRect">
            <a:avLst/>
          </a:prstGeom>
          <a:solidFill>
            <a:srgbClr val="16783C"/>
          </a:solidFill>
          <a:ln>
            <a:solidFill>
              <a:srgbClr val="167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Ce que le projet démontre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201168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2798064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Une infrastructure entièrement déclarative et reproductible,</a:t>
            </a:r>
          </a:p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dont aucune modification n'échappe à une revue humaine.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730752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63016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Un modèle de sécurité vérifiable : le refus RBAC opposé à un</a:t>
            </a:r>
          </a:p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compte Owner prouve que le moindre privilège est effectif.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4663440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562856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Sept incidents bloquants, dont aucun n'aurait été détecté</a:t>
            </a:r>
          </a:p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par une validation syntaxique.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5596128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5495544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Trois décisions non pas choisies mais subies, puis rationalisées :</a:t>
            </a:r>
          </a:p>
          <a:p>
            <a:pPr algn="l">
              <a:lnSpc>
                <a:spcPct val="128000"/>
              </a:lnSpc>
            </a:pPr>
            <a:r>
              <a:rPr sz="1700" b="0">
                <a:solidFill>
                  <a:srgbClr val="EBF3FB"/>
                </a:solidFill>
                <a:latin typeface="Calibri"/>
              </a:rPr>
              <a:t>c'est la confrontation à la plateforme qui les a imposées.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Grand écran</PresentationFormat>
  <Paragraphs>54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VAN</cp:lastModifiedBy>
  <cp:revision>3</cp:revision>
  <dcterms:created xsi:type="dcterms:W3CDTF">2013-01-27T09:14:16Z</dcterms:created>
  <dcterms:modified xsi:type="dcterms:W3CDTF">2026-07-30T15:13:30Z</dcterms:modified>
  <cp:category/>
</cp:coreProperties>
</file>